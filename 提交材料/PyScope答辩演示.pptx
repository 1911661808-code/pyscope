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1175f291e449b3" /><Relationship Type="http://schemas.openxmlformats.org/officeDocument/2006/relationships/extended-properties" Target="/docProps/app.xml" Id="Rccc10acb140f4963" /><Relationship Type="http://schemas.openxmlformats.org/officeDocument/2006/relationships/officeDocument" Target="/ppt/presentation.xml" Id="R35d04b85b5b143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088fc4a2924351"/>
  </p:sldMasterIdLst>
  <p:notesMasterIdLst>
    <p:notesMasterId xmlns:r="http://schemas.openxmlformats.org/officeDocument/2006/relationships" r:id="R76ea1d7b36fd4309"/>
  </p:notesMasterIdLst>
  <p:sldIdLst>
    <p:sldId xmlns:r="http://schemas.openxmlformats.org/officeDocument/2006/relationships" id="256" r:id="Rac96dd3c7fe6495a"/>
    <p:sldId xmlns:r="http://schemas.openxmlformats.org/officeDocument/2006/relationships" id="257" r:id="R07126b688be0419e"/>
    <p:sldId xmlns:r="http://schemas.openxmlformats.org/officeDocument/2006/relationships" id="258" r:id="R69b7cba9423e4e77"/>
    <p:sldId xmlns:r="http://schemas.openxmlformats.org/officeDocument/2006/relationships" id="259" r:id="R846f54c18b8945eb"/>
    <p:sldId xmlns:r="http://schemas.openxmlformats.org/officeDocument/2006/relationships" id="260" r:id="R22df7dfc5f8b48b0"/>
    <p:sldId xmlns:r="http://schemas.openxmlformats.org/officeDocument/2006/relationships" id="261" r:id="R4b463e56af1946da"/>
    <p:sldId xmlns:r="http://schemas.openxmlformats.org/officeDocument/2006/relationships" id="262" r:id="R65aa65bbbbaa44c2"/>
    <p:sldId xmlns:r="http://schemas.openxmlformats.org/officeDocument/2006/relationships" id="263" r:id="Ra5417cc9050c4577"/>
    <p:sldId xmlns:r="http://schemas.openxmlformats.org/officeDocument/2006/relationships" id="264" r:id="Rfacf09084eec4b4e"/>
    <p:sldId xmlns:r="http://schemas.openxmlformats.org/officeDocument/2006/relationships" id="265" r:id="R984c804711da43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2b6acce6644938" /><Relationship Type="http://schemas.openxmlformats.org/officeDocument/2006/relationships/slideMaster" Target="/ppt/slideMasters/slideMaster1.xml" Id="R0b088fc4a2924351" /><Relationship Type="http://schemas.openxmlformats.org/officeDocument/2006/relationships/notesMaster" Target="/ppt/notesMasters/notesMaster1.xml" Id="R76ea1d7b36fd4309" /><Relationship Type="http://schemas.openxmlformats.org/officeDocument/2006/relationships/presProps" Target="/ppt/presProps.xml" Id="R63136cde96984a2e" /><Relationship Type="http://schemas.openxmlformats.org/officeDocument/2006/relationships/tableStyles" Target="/ppt/tableStyles.xml" Id="Rc631282a9eca403d" /><Relationship Type="http://schemas.openxmlformats.org/officeDocument/2006/relationships/slide" Target="/ppt/slides/slide1.xml" Id="Rac96dd3c7fe6495a" /><Relationship Type="http://schemas.openxmlformats.org/officeDocument/2006/relationships/slide" Target="/ppt/slides/slide2.xml" Id="R07126b688be0419e" /><Relationship Type="http://schemas.openxmlformats.org/officeDocument/2006/relationships/slide" Target="/ppt/slides/slide3.xml" Id="R69b7cba9423e4e77" /><Relationship Type="http://schemas.openxmlformats.org/officeDocument/2006/relationships/slide" Target="/ppt/slides/slide4.xml" Id="R846f54c18b8945eb" /><Relationship Type="http://schemas.openxmlformats.org/officeDocument/2006/relationships/slide" Target="/ppt/slides/slide5.xml" Id="R22df7dfc5f8b48b0" /><Relationship Type="http://schemas.openxmlformats.org/officeDocument/2006/relationships/slide" Target="/ppt/slides/slide6.xml" Id="R4b463e56af1946da" /><Relationship Type="http://schemas.openxmlformats.org/officeDocument/2006/relationships/slide" Target="/ppt/slides/slide7.xml" Id="R65aa65bbbbaa44c2" /><Relationship Type="http://schemas.openxmlformats.org/officeDocument/2006/relationships/slide" Target="/ppt/slides/slide8.xml" Id="Ra5417cc9050c4577" /><Relationship Type="http://schemas.openxmlformats.org/officeDocument/2006/relationships/slide" Target="/ppt/slides/slide9.xml" Id="Rfacf09084eec4b4e" /><Relationship Type="http://schemas.openxmlformats.org/officeDocument/2006/relationships/slide" Target="/ppt/slides/slide10.xml" Id="R984c804711da43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1e8387c6dc4c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d152fbdb6c4140" /><Relationship Type="http://schemas.openxmlformats.org/officeDocument/2006/relationships/notesMaster" Target="/ppt/notesMasters/notesMaster1.xml" Id="Rd8299891df854b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6dc4ca272b42c1" /><Relationship Type="http://schemas.openxmlformats.org/officeDocument/2006/relationships/notesMaster" Target="/ppt/notesMasters/notesMaster1.xml" Id="Rb237bc2b795741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f8595ba31c4a51" /><Relationship Type="http://schemas.openxmlformats.org/officeDocument/2006/relationships/notesMaster" Target="/ppt/notesMasters/notesMaster1.xml" Id="R7827317e1a094c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f4c9af01994f7e" /><Relationship Type="http://schemas.openxmlformats.org/officeDocument/2006/relationships/notesMaster" Target="/ppt/notesMasters/notesMaster1.xml" Id="R2996d1133ee846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34189f3dad4f10" /><Relationship Type="http://schemas.openxmlformats.org/officeDocument/2006/relationships/notesMaster" Target="/ppt/notesMasters/notesMaster1.xml" Id="Rfab7965956854e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2d1e04a66545f6" /><Relationship Type="http://schemas.openxmlformats.org/officeDocument/2006/relationships/notesMaster" Target="/ppt/notesMasters/notesMaster1.xml" Id="R6055b1bbf6624c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832ec92a744882" /><Relationship Type="http://schemas.openxmlformats.org/officeDocument/2006/relationships/notesMaster" Target="/ppt/notesMasters/notesMaster1.xml" Id="R8199d32d5a4441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6cef09c5454c5e" /><Relationship Type="http://schemas.openxmlformats.org/officeDocument/2006/relationships/notesMaster" Target="/ppt/notesMasters/notesMaster1.xml" Id="R392c1eafdcf142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36c7064e5e4cbd" /><Relationship Type="http://schemas.openxmlformats.org/officeDocument/2006/relationships/notesMaster" Target="/ppt/notesMasters/notesMaster1.xml" Id="R1bd68ae772454d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acdeee139f4275" /><Relationship Type="http://schemas.openxmlformats.org/officeDocument/2006/relationships/notesMaster" Target="/ppt/notesMasters/notesMaster1.xml" Id="Rb4b34dc4901045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开场：本项目通过真实 Python 执行事件，让变量变化、递归与对象引用变得可观察。项目在本地运行，不依赖外部硬件。身份信息由提交人填写。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学习者不仅需要最终答案，也需要观察产生答案的中间过程。三个具体问题是变量改变时刻、函数调用的局部状态、两个变量为何共同变化。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截图来自交付软件对真实递归执行记录的历史回放：第 13/34 个快照、第 4 行、4 层调用栈。回放读取已保存状态，不会重新执行代码。编辑器和状态视图通过同一事件索引关联。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架构由浏览器、Flask API、会话控制、工作进程与 SQLite 组成。浏览器仅显示状态。工作进程真正执行代码并暂停。参考 https://flask.palletsprojects.com/en/stable/quickstart/ 和 https://docs.python.org/3/library/subprocess.html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line 事件在执行源码行前发生。首行暂停时赋值尚未完成。单步到下一可执行行后能看见上次执行的结果。参考 https://docs.python.org/3/library/sys.html#sys.settrace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该截图为循环链表真实执行记录的第 39/39 个历史快照，显示 3 个对象及循环引用。first、second、third 的 next 连接为环，执行输出为 A B C A。对象标识在同一会话中保持关联，循环引用通过已访问对象记录避免无限展开。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AST 来自 Python 语法解析器。定义数量与运行调用次数是不同口径，静态树不能直接得出任意程序的时间复杂度。参考 https://docs.python.org/3.12/library/ast.html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实测数据来自同一环境对 fibonacci(22) 的独立性能执行，输出一致。调用次数是算法重复计算的证据，每种实现运行 5 次，代码执行时间包含 cProfile 开销，不包含进程启动。参考 https://docs.python.org/3.12/library/profile.html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验证环境：Windows 11、Python 3.12.14、Flask 3.1.3。命令：python -X utf8 -m unittest discover -s tests -v。检查总数 33，通过 33。所有数量来自本次实际执行。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当前完成范围是可信、单进程、单线程同步教学代码。子进程不等于操作系统安全沙箱。后续可扩展条件断点、快照压缩和多文件源码映射。答辩现场演示建议依次展示共享引用、递归、AST、性能与历史。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8d25838cc4c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d7019167e41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46eba447724f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4a890bb064b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80e5457c741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8b7062dc44e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56D9D6-F8DB-4695-B2B8-F805C7AEF4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B7CE89-C106-4BDF-A610-3EA1D7D997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DF8448-04E5-4080-99D7-46CE8F524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C71ECA-E5A5-41BD-A8B8-B1B03F625D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E6652D-1176-463C-9A37-C8ABEEF669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0E6E8D-10A1-4559-998A-3046D2D14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0061A4-5F72-49F4-9E0C-A3EE83778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E7944E-8132-4A35-86BF-CA4CAB7781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680B1E-2257-4654-8E51-0A7FB3FC0B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CCF8E5-35DA-4273-8FE9-E09F4C41D6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dd614b75224453" /><Relationship Type="http://schemas.openxmlformats.org/officeDocument/2006/relationships/slideLayout" Target="/ppt/slideLayouts/slideLayout1.xml" Id="R102e6254af404c0d" /><Relationship Type="http://schemas.openxmlformats.org/officeDocument/2006/relationships/slideLayout" Target="/ppt/slideLayouts/slideLayout2.xml" Id="Rccf4580ce6014fbf" /><Relationship Type="http://schemas.openxmlformats.org/officeDocument/2006/relationships/slideLayout" Target="/ppt/slideLayouts/slideLayout3.xml" Id="R023ed136a7cb4c5b" /><Relationship Type="http://schemas.openxmlformats.org/officeDocument/2006/relationships/slideLayout" Target="/ppt/slideLayouts/slideLayout4.xml" Id="R5bfdbc061c5c4032" /><Relationship Type="http://schemas.openxmlformats.org/officeDocument/2006/relationships/slideLayout" Target="/ppt/slideLayouts/slideLayout5.xml" Id="Rcd8fa27909914fa5" /><Relationship Type="http://schemas.openxmlformats.org/officeDocument/2006/relationships/slideLayout" Target="/ppt/slideLayouts/slideLayout6.xml" Id="Rd37097eaa4eb41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2e6254af404c0d"/>
    <p:sldLayoutId xmlns:r="http://schemas.openxmlformats.org/officeDocument/2006/relationships" id="2147483650" r:id="Rccf4580ce6014fbf"/>
    <p:sldLayoutId xmlns:r="http://schemas.openxmlformats.org/officeDocument/2006/relationships" id="2147483651" r:id="R023ed136a7cb4c5b"/>
    <p:sldLayoutId xmlns:r="http://schemas.openxmlformats.org/officeDocument/2006/relationships" id="2147483652" r:id="R5bfdbc061c5c4032"/>
    <p:sldLayoutId xmlns:r="http://schemas.openxmlformats.org/officeDocument/2006/relationships" id="2147483653" r:id="Rcd8fa27909914fa5"/>
    <p:sldLayoutId xmlns:r="http://schemas.openxmlformats.org/officeDocument/2006/relationships" id="2147483654" r:id="Rd37097eaa4eb41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fa59d9d28e4073" /><Relationship Type="http://schemas.openxmlformats.org/officeDocument/2006/relationships/notesSlide" Target="/ppt/notesSlides/notesSlide1.xml" Id="R555f0033523346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68a59f64a14334" /><Relationship Type="http://schemas.openxmlformats.org/officeDocument/2006/relationships/notesSlide" Target="/ppt/notesSlides/notesSlide2.xml" Id="R5c2891e9bf744c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b46b697814f8a" /><Relationship Type="http://schemas.openxmlformats.org/officeDocument/2006/relationships/image" Target="/ppt/media/image.jpeg" Id="Rb54bd021f713468a" /><Relationship Type="http://schemas.openxmlformats.org/officeDocument/2006/relationships/notesSlide" Target="/ppt/notesSlides/notesSlide3.xml" Id="R1418e18ea0664f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2e4ed8b7c4acf" /><Relationship Type="http://schemas.openxmlformats.org/officeDocument/2006/relationships/notesSlide" Target="/ppt/notesSlides/notesSlide4.xml" Id="Re88bef37f5eb4a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77831ef214f2c" /><Relationship Type="http://schemas.openxmlformats.org/officeDocument/2006/relationships/notesSlide" Target="/ppt/notesSlides/notesSlide5.xml" Id="R61aa0b3103f740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a898c73444d65" /><Relationship Type="http://schemas.openxmlformats.org/officeDocument/2006/relationships/image" Target="/ppt/media/image2.jpeg" Id="R8b22d680cf7648c3" /><Relationship Type="http://schemas.openxmlformats.org/officeDocument/2006/relationships/notesSlide" Target="/ppt/notesSlides/notesSlide6.xml" Id="R1cdc3029a1864b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25a9ef627e49a0" /><Relationship Type="http://schemas.openxmlformats.org/officeDocument/2006/relationships/image" Target="/ppt/media/image3.jpeg" Id="R3c84bc8a47c04108" /><Relationship Type="http://schemas.openxmlformats.org/officeDocument/2006/relationships/notesSlide" Target="/ppt/notesSlides/notesSlide7.xml" Id="R5fd7e12c40df40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2d24a8870f4d5b" /><Relationship Type="http://schemas.openxmlformats.org/officeDocument/2006/relationships/notesSlide" Target="/ppt/notesSlides/notesSlide8.xml" Id="R6564b50cf9e04a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cffe9829241e4" /><Relationship Type="http://schemas.openxmlformats.org/officeDocument/2006/relationships/notesSlide" Target="/ppt/notesSlides/notesSlide9.xml" Id="R6a2aa52efc9349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f36ffe73e94f74" /><Relationship Type="http://schemas.openxmlformats.org/officeDocument/2006/relationships/notesSlide" Target="/ppt/notesSlides/notesSlide10.xml" Id="R10195cdcfb4545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62F2F-180E-4A84-B226-CC07CF0A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900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900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PyScope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86FB5-83A1-4F1A-B26C-5561BFD6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程序执行可视化与调试分析平台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E1F44-4F60-4DFA-AAEF-A27095EA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Python 语言程序设计课程项目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3E305-5BC4-457C-900D-74082267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姓名 __________    学号 __________    班级 __________</a:t>
            </a:r>
          </a:p>
        </p:txBody>
      </p:sp>
    </p:spTree>
    <p:extLst>
      <p:ext uri="{BB962C8B-B14F-4D97-AF65-F5344CB8AC3E}">
        <p14:creationId xmlns:p14="http://schemas.microsoft.com/office/powerpoint/2010/main" val="823479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94FD7-6236-4DA8-BE5B-84A1DA4F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程序结果之外的执行过程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4073A-2EC9-4D88-B1F2-A67946C3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rPr>
              <a:t>变量何时变化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BDDF0-F184-412B-B1A6-E471D9FD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高亮源码与变量值对应同一次执行快照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FFA6B-7D0C-404C-A162-6B4321E8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rPr>
              <a:t>函数调用时发生什么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D2C1-A09B-4F1F-A0E1-AA19D4C7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调用栈保留每一层递归的局部状态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B6402-0CAB-4255-B7C0-CC282255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观察真实执行，再解释代码行为。</a:t>
            </a:r>
          </a:p>
        </p:txBody>
      </p:sp>
    </p:spTree>
    <p:extLst>
      <p:ext uri="{BB962C8B-B14F-4D97-AF65-F5344CB8AC3E}">
        <p14:creationId xmlns:p14="http://schemas.microsoft.com/office/powerpoint/2010/main" val="467924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B4AB1-0EA4-4DA2-B7E9-6144F95B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本地交互工作台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CC2B6-7D0D-4F6A-8839-3781DC7099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bd021f713468a"/>
          <a:stretch xmlns:a="http://schemas.openxmlformats.org/drawingml/2006/main"/>
        </p:blipFill>
        <p:spPr>
          <a:xfrm xmlns:a="http://schemas.openxmlformats.org/drawingml/2006/main">
            <a:off x="5905500" y="1862667"/>
            <a:ext cx="5676900" cy="394229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06465-02F6-476E-91E4-E8C77413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rPr>
              <a:t>递归调用逐层展开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3BB3A-DB8F-48E3-9F25-2ED17286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876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回看第 13/34 个快照</a:t>
            </a:r>
          </a:p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第 4 行与 4 层调用栈</a:t>
            </a:r>
          </a:p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选择栈帧查看局部变量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58E29-DCCF-4206-828D-002E7BB5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来自真实执行记录</a:t>
            </a:r>
          </a:p>
          <a:p xmlns:a="http://schemas.openxmlformats.org/drawingml/2006/main">
            <a:pPr>
              <a:def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回放不重新运行代码</a:t>
            </a:r>
          </a:p>
        </p:txBody>
      </p:sp>
    </p:spTree>
    <p:extLst>
      <p:ext uri="{BB962C8B-B14F-4D97-AF65-F5344CB8AC3E}">
        <p14:creationId xmlns:p14="http://schemas.microsoft.com/office/powerpoint/2010/main" val="649018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E056B-F6B1-46B1-9CF2-554B83D9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系统模块与职责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3FB78-D4A3-4A46-A6E3-C603F717678C}"/>
              </a:ext>
            </a:extLst>
          </p:cNvPr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924300"/>
                <a:gridCol w="4667250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4655"/>
                      </a:solidFill>
                      <a:prstDash val="solid"/>
                    </a:lnL>
                    <a:lnR w="9525">
                      <a:solidFill>
                        <a:srgbClr val="3B4655"/>
                      </a:solidFill>
                      <a:prstDash val="solid"/>
                    </a:lnR>
                    <a:lnT w="9525">
                      <a:solidFill>
                        <a:srgbClr val="3B4655"/>
                      </a:solidFill>
                      <a:prstDash val="solid"/>
                    </a:lnT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T w="9525">
                      <a:solidFill>
                        <a:srgbClr val="3B4655"/>
                      </a:solidFill>
                      <a:prstDash val="solid"/>
                    </a:lnT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T w="9525">
                      <a:solidFill>
                        <a:srgbClr val="3B4655"/>
                      </a:solidFill>
                      <a:prstDash val="solid"/>
                    </a:lnT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24344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交互界面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4655"/>
                      </a:solidFill>
                      <a:prstDash val="solid"/>
                    </a:lnL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CodeMirror 与本地前端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编辑代码与显示快照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服务与会话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4655"/>
                      </a:solidFill>
                      <a:prstDash val="solid"/>
                    </a:lnL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Flask 与 SessionManager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命令、状态与增量事件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C273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执行与分析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4655"/>
                      </a:solidFill>
                      <a:prstDash val="solid"/>
                    </a:lnL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trace_worker / AST / cProfile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执行控制与程序分析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本地数据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4655"/>
                      </a:solidFill>
                      <a:prstDash val="solid"/>
                    </a:lnL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与 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历史记录与导出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C2735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32B3A-8323-4D1B-8110-94B69C1F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Python 承担执行控制、状态采集、分析与数据管理。</a:t>
            </a:r>
          </a:p>
        </p:txBody>
      </p:sp>
    </p:spTree>
    <p:extLst>
      <p:ext uri="{BB962C8B-B14F-4D97-AF65-F5344CB8AC3E}">
        <p14:creationId xmlns:p14="http://schemas.microsoft.com/office/powerpoint/2010/main" val="180670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3F543-9F06-4499-B904-F8D7B983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单步的时序与控制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79B76-B61B-4563-B927-32636341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4762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rPr>
              <a:t>x = 1</a:t>
            </a:r>
          </a:p>
          <a:p xmlns:a="http://schemas.openxmlformats.org/drawingml/2006/main">
            <a:pPr>
              <a:defRPr sz="3000" b="0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rPr>
              <a:t>x = x + 2</a:t>
            </a:r>
          </a:p>
          <a:p xmlns:a="http://schemas.openxmlformats.org/drawingml/2006/main">
            <a:pPr>
              <a:defRPr sz="3000" b="0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rPr>
              <a:t>print(x)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A9360-F345-4BA5-B959-25CA984F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81150"/>
            <a:ext cx="55721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高亮第 1 行时，x 尚未赋值</a:t>
            </a:r>
          </a:p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高亮第 2 行时，x 等于 1</a:t>
            </a:r>
          </a:p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高亮第 3 行时，x 等于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5DB8C-D436-4019-B002-9C1959A1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10839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单步进入函数，继续运行停在下一断点。</a:t>
            </a:r>
          </a:p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暂停等待下一个可跟踪位置，停止结束工作进程。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FC898-264D-48F8-89E0-09A45CB3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历史回放读取旧快照，不撤销文件或网络等外部副作用。</a:t>
            </a:r>
          </a:p>
        </p:txBody>
      </p:sp>
    </p:spTree>
    <p:extLst>
      <p:ext uri="{BB962C8B-B14F-4D97-AF65-F5344CB8AC3E}">
        <p14:creationId xmlns:p14="http://schemas.microsoft.com/office/powerpoint/2010/main" val="17755098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95ABD-4B1A-405A-BD88-E530AC3C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循环引用与对象状态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C064E-71CA-467A-8D64-CD86E47FC1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2d680cf7648c3"/>
          <a:stretch xmlns:a="http://schemas.openxmlformats.org/drawingml/2006/main"/>
        </p:blipFill>
        <p:spPr>
          <a:xfrm xmlns:a="http://schemas.openxmlformats.org/drawingml/2006/main">
            <a:off x="5905500" y="1862667"/>
            <a:ext cx="5676900" cy="394229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41EF8-A617-4250-B588-35042437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rPr>
              <a:t>三个节点连接成环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51564-AA8C-4564-A920-B87330C8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876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next 保存对象引用</a:t>
            </a:r>
          </a:p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遍历输出 A B C A</a:t>
            </a:r>
          </a:p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快照识别已访问对象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BD2C4-276B-4F60-B367-10403B6C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稳定编号与访问记录</a:t>
            </a:r>
          </a:p>
          <a:p xmlns:a="http://schemas.openxmlformats.org/drawingml/2006/main">
            <a:pPr>
              <a:def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避免循环关系无限展开</a:t>
            </a:r>
          </a:p>
        </p:txBody>
      </p:sp>
    </p:spTree>
    <p:extLst>
      <p:ext uri="{BB962C8B-B14F-4D97-AF65-F5344CB8AC3E}">
        <p14:creationId xmlns:p14="http://schemas.microsoft.com/office/powerpoint/2010/main" val="289194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8ED44-2D9D-41DF-9534-28A9E4A9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语法结构与运行状态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C2B98-2CE4-451D-B5A4-4595EC8FE2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4bc8a47c04108"/>
          <a:stretch xmlns:a="http://schemas.openxmlformats.org/drawingml/2006/main"/>
        </p:blipFill>
        <p:spPr>
          <a:xfrm xmlns:a="http://schemas.openxmlformats.org/drawingml/2006/main">
            <a:off x="5905500" y="1862667"/>
            <a:ext cx="5676900" cy="394229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C90F7-79B8-424F-AD03-F6FC8CBE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rPr>
              <a:t>代码结构无需执行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E736C-E75A-4DE7-9E56-EDD43112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876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解析函数与类的定义</a:t>
            </a:r>
          </a:p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查看分支和循环节点</a:t>
            </a:r>
          </a:p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定位语法错误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ADD4D-2CD6-4BA1-AE27-89B80496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静态定义的数量</a:t>
            </a:r>
          </a:p>
          <a:p xmlns:a="http://schemas.openxmlformats.org/drawingml/2006/main">
            <a:pPr>
              <a:def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与动态调用次数不同</a:t>
            </a:r>
          </a:p>
        </p:txBody>
      </p:sp>
    </p:spTree>
    <p:extLst>
      <p:ext uri="{BB962C8B-B14F-4D97-AF65-F5344CB8AC3E}">
        <p14:creationId xmlns:p14="http://schemas.microsoft.com/office/powerpoint/2010/main" val="427538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A27E7-8185-49D7-8B98-027E1AC7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重复递归与记忆化递归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AD841-16ED-4D89-8E46-7CC4DC404807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2409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286000"/>
                <a:gridCol w="2714625"/>
                <a:gridCol w="2828925"/>
              </a:tblGrid>
              <a:tr h="803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4655"/>
                      </a:solidFill>
                      <a:prstDash val="solid"/>
                    </a:lnL>
                    <a:lnR w="9525">
                      <a:solidFill>
                        <a:srgbClr val="3B4655"/>
                      </a:solidFill>
                      <a:prstDash val="solid"/>
                    </a:lnR>
                    <a:lnT w="9525">
                      <a:solidFill>
                        <a:srgbClr val="3B4655"/>
                      </a:solidFill>
                      <a:prstDash val="solid"/>
                    </a:lnT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调用次数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T w="9525">
                      <a:solidFill>
                        <a:srgbClr val="3B4655"/>
                      </a:solidFill>
                      <a:prstDash val="solid"/>
                    </a:lnT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中位时间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T w="9525">
                      <a:solidFill>
                        <a:srgbClr val="3B4655"/>
                      </a:solidFill>
                      <a:prstDash val="solid"/>
                    </a:lnT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T w="9525">
                      <a:solidFill>
                        <a:srgbClr val="3B4655"/>
                      </a:solidFill>
                      <a:prstDash val="solid"/>
                    </a:lnT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243447"/>
                    </a:solidFill>
                  </a:tcPr>
                </a:tc>
              </a:tr>
              <a:tr h="803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重复递归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4655"/>
                      </a:solidFill>
                      <a:prstDash val="solid"/>
                    </a:lnL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57313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6.7365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</a:tr>
              <a:tr h="803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记忆化递归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4655"/>
                      </a:solidFill>
                      <a:prstDash val="solid"/>
                    </a:lnL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0.0719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C2735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0A846-7DE4-438D-93CE-B61BBEBD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rPr>
              <a:t>记忆化保存已求出的子问题结果，减少重复展开。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4D19F-812B-4A66-B82F-E20057A6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性能分析独立重执行，调试暂停时间不计入该统计。</a:t>
            </a:r>
          </a:p>
        </p:txBody>
      </p:sp>
    </p:spTree>
    <p:extLst>
      <p:ext uri="{BB962C8B-B14F-4D97-AF65-F5344CB8AC3E}">
        <p14:creationId xmlns:p14="http://schemas.microsoft.com/office/powerpoint/2010/main" val="956938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193A1-19B6-4764-9F7B-4B1B2F76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功能验证与证据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3E38B-F8DB-4998-9B60-CE44E3B715CE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1905000"/>
                <a:gridCol w="3257550"/>
              </a:tblGrid>
              <a:tr h="8143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检查类别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4655"/>
                      </a:solidFill>
                      <a:prstDash val="solid"/>
                    </a:lnL>
                    <a:lnR w="9525">
                      <a:solidFill>
                        <a:srgbClr val="3B4655"/>
                      </a:solidFill>
                      <a:prstDash val="solid"/>
                    </a:lnR>
                    <a:lnT w="9525">
                      <a:solidFill>
                        <a:srgbClr val="3B4655"/>
                      </a:solidFill>
                      <a:prstDash val="solid"/>
                    </a:lnT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T w="9525">
                      <a:solidFill>
                        <a:srgbClr val="3B4655"/>
                      </a:solidFill>
                      <a:prstDash val="solid"/>
                    </a:lnT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T w="9525">
                      <a:solidFill>
                        <a:srgbClr val="3B4655"/>
                      </a:solidFill>
                      <a:prstDash val="solid"/>
                    </a:lnT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243447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执行引擎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4655"/>
                      </a:solidFill>
                      <a:prstDash val="solid"/>
                    </a:lnL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 API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4655"/>
                      </a:solidFill>
                      <a:prstDash val="solid"/>
                    </a:lnL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C2735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4655"/>
                      </a:solidFill>
                      <a:prstDash val="solid"/>
                    </a:lnL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5F7F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 项通过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4655"/>
                      </a:solidFill>
                      <a:prstDash val="solid"/>
                    </a:lnR>
                    <a:lnB w="9525">
                      <a:solidFill>
                        <a:srgbClr val="3B4655"/>
                      </a:solidFill>
                      <a:prstDash val="solid"/>
                    </a:lnB>
                    <a:solidFill>
                      <a:srgbClr val="16202D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762B2-E7BA-4956-A797-7E73D802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自动检查覆盖执行语义与接口行为，浏览器检查验证真实交互。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4C0AD-AEC4-4572-A4DA-323EE81B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Windows 11、Python 3.12.14、Flask 3.1.3</a:t>
            </a:r>
          </a:p>
        </p:txBody>
      </p:sp>
    </p:spTree>
    <p:extLst>
      <p:ext uri="{BB962C8B-B14F-4D97-AF65-F5344CB8AC3E}">
        <p14:creationId xmlns:p14="http://schemas.microsoft.com/office/powerpoint/2010/main" val="1838908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160AE-9C1F-4156-903E-9800E080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实现边界与后续方向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44051-BE34-41DA-92DC-76486D6E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rPr>
              <a:t>本次实现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99E47-FA64-4146-B95F-A5D57588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687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真实执行控制、引用关系快照、多视图同步与本地历史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B9888-E144-47B1-81F5-D49887C5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9D8C0"/>
                </a:solidFill>
                <a:latin typeface="Microsoft YaHei"/>
                <a:ea typeface="Microsoft YaHei"/>
                <a:cs typeface="Microsoft YaHei"/>
              </a:rPr>
              <a:t>支持范围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099D5-5AA7-426B-B9BE-160A01A7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687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可信的单进程、单线程同步教学程序</a:t>
            </a:r>
          </a:p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A"/>
                </a:solidFill>
                <a:latin typeface="Microsoft YaHei"/>
                <a:ea typeface="Microsoft YaHei"/>
                <a:cs typeface="Microsoft YaHei"/>
              </a:rPr>
              <a:t>子进程用于执行管理，不能隔离不可信代码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4059E-37D6-4AB1-A006-5C8AD4B4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3D0"/>
                </a:solidFill>
                <a:latin typeface="Microsoft YaHei"/>
                <a:ea typeface="Microsoft YaHei"/>
                <a:cs typeface="Microsoft YaHei"/>
              </a:rPr>
              <a:t>后续方向：条件断点、快照压缩与多文件源码映射。</a:t>
            </a:r>
          </a:p>
        </p:txBody>
      </p:sp>
    </p:spTree>
    <p:extLst>
      <p:ext uri="{BB962C8B-B14F-4D97-AF65-F5344CB8AC3E}">
        <p14:creationId xmlns:p14="http://schemas.microsoft.com/office/powerpoint/2010/main" val="2050947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Presentation</dc:title>
  <ns2:created xsi:type="dcterms:W3CDTF">2026-10-12T04:20:07.5630000Z</ns2:created>
  <ns2:modified xsi:type="dcterms:W3CDTF">2026-10-12T04:20:07.5630000Z</ns2:modified>
</ns0:coreProperties>
</file>